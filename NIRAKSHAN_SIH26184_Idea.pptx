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E6E6E"/>
                </a:solidFill>
                <a:latin typeface="Arial"/>
              </a:rPr>
              <a:t>IDEA SUBMISSION  · 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41414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5" name="Diamond 4"/>
          <p:cNvSpPr/>
          <p:nvPr/>
        </p:nvSpPr>
        <p:spPr>
          <a:xfrm>
            <a:off x="6013551" y="1847088"/>
            <a:ext cx="164592" cy="16459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E6E6E"/>
                </a:solidFill>
                <a:latin typeface="Arial"/>
              </a:rPr>
              <a:t>PROBLEM STATEMENT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414"/>
                </a:solidFill>
                <a:latin typeface="Georgia"/>
              </a:rPr>
              <a:t>SIH26184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688336"/>
            <a:ext cx="630936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71216"/>
            <a:ext cx="37490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E6E6E"/>
                </a:solidFill>
                <a:latin typeface="Arial"/>
              </a:rPr>
              <a:t>PROBLEM STATEMENT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71216"/>
            <a:ext cx="6309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41414"/>
                </a:solidFill>
                <a:latin typeface="Georgia"/>
              </a:rPr>
              <a:t>Predictive Analytics Framework for Cybercrime Complaints to Forecast Likely Cash Withdrawal Locations (MHA)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E6E6E"/>
                </a:solidFill>
                <a:latin typeface="Arial"/>
              </a:rPr>
              <a:t>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40480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414"/>
                </a:solidFill>
                <a:latin typeface="Georgia"/>
              </a:rPr>
              <a:t>Software, Blockchain &amp; Cybersecurity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242816"/>
            <a:ext cx="630936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25696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E6E6E"/>
                </a:solidFill>
                <a:latin typeface="Arial"/>
              </a:rPr>
              <a:t>PS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4256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414"/>
                </a:solidFill>
                <a:latin typeface="Georgia"/>
              </a:rPr>
              <a:t>Software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4828032"/>
            <a:ext cx="630936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10912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E6E6E"/>
                </a:solidFill>
                <a:latin typeface="Arial"/>
              </a:rPr>
              <a:t>TEAM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01091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414"/>
                </a:solidFill>
                <a:latin typeface="Georgia"/>
              </a:rPr>
              <a:t>[ YOUR TEAM ID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5413248"/>
            <a:ext cx="630936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7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E6E6E"/>
                </a:solidFill>
                <a:latin typeface="Arial"/>
              </a:rPr>
              <a:t>TEAM NAME (REGISTERED ON PORTAL)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596127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41414"/>
                </a:solidFill>
                <a:latin typeface="Georgia"/>
              </a:rPr>
              <a:t>TEAM CYPHORA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998464"/>
            <a:ext cx="630936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rial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6E6E"/>
                </a:solidFill>
                <a:latin typeface="Arial"/>
              </a:rP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76656"/>
            <a:ext cx="201168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Georgia"/>
              </a:rPr>
              <a:t>NIRAKSHAN — SEE. PREDICT. INTERCEPT.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Arial"/>
              </a:rPr>
              <a:t>One console: forecast cash-out, trace the money, warn the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401568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3401568" cy="1097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4400" y="2743200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2679191"/>
            <a:ext cx="2578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46120"/>
            <a:ext cx="2852928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8529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414"/>
                </a:solidFill>
                <a:latin typeface="Arial"/>
              </a:rPr>
              <a:t>Hawkes engine — ATM clusters scored +2h / +6h / +24h ahead.</a:t>
            </a:r>
          </a:p>
        </p:txBody>
      </p:sp>
      <p:sp>
        <p:nvSpPr>
          <p:cNvPr id="13" name="Chevron 12"/>
          <p:cNvSpPr/>
          <p:nvPr/>
        </p:nvSpPr>
        <p:spPr>
          <a:xfrm>
            <a:off x="4096511" y="3831335"/>
            <a:ext cx="274320" cy="292608"/>
          </a:xfrm>
          <a:prstGeom prst="chevron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331720"/>
            <a:ext cx="3401568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2331720"/>
            <a:ext cx="3401568" cy="1097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4700016" y="2743200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2624" y="2679191"/>
            <a:ext cx="2578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INTERCEPT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0016" y="3246120"/>
            <a:ext cx="2852928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3474720"/>
            <a:ext cx="28529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414"/>
                </a:solidFill>
                <a:latin typeface="Arial"/>
              </a:rPr>
              <a:t>Case-trace the money hop-by-hop; real ATMs (OpenStreetMap) for pre-positioning.</a:t>
            </a:r>
          </a:p>
        </p:txBody>
      </p:sp>
      <p:sp>
        <p:nvSpPr>
          <p:cNvPr id="20" name="Chevron 19"/>
          <p:cNvSpPr/>
          <p:nvPr/>
        </p:nvSpPr>
        <p:spPr>
          <a:xfrm>
            <a:off x="7882128" y="3831335"/>
            <a:ext cx="274320" cy="292608"/>
          </a:xfrm>
          <a:prstGeom prst="chevron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2331720"/>
            <a:ext cx="3401568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1312" y="2331720"/>
            <a:ext cx="3401568" cy="1097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485632" y="2743200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679191"/>
            <a:ext cx="2578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PREVENT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85632" y="3246120"/>
            <a:ext cx="2852928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3474720"/>
            <a:ext cx="28529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414"/>
                </a:solidFill>
                <a:latin typeface="Arial"/>
              </a:rPr>
              <a:t>Citizen Telegram reporting + QR / SMS forensics.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rial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6E6E"/>
                </a:solidFill>
                <a:latin typeface="Arial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76656"/>
            <a:ext cx="201168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Georgia"/>
              </a:rPr>
              <a:t>Complaint stream in, intercept targets out — one live pipeline.</a:t>
            </a:r>
          </a:p>
        </p:txBody>
      </p:sp>
      <p:sp>
        <p:nvSpPr>
          <p:cNvPr id="6" name="Pentagon 5"/>
          <p:cNvSpPr/>
          <p:nvPr/>
        </p:nvSpPr>
        <p:spPr>
          <a:xfrm>
            <a:off x="640080" y="1965960"/>
            <a:ext cx="3063240" cy="914400"/>
          </a:xfrm>
          <a:prstGeom prst="homePlat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00837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Arial"/>
              </a:rPr>
              <a:t>NCRP stream · Telegram · QR intake</a:t>
            </a:r>
          </a:p>
        </p:txBody>
      </p:sp>
      <p:sp>
        <p:nvSpPr>
          <p:cNvPr id="8" name="Chevron 7"/>
          <p:cNvSpPr/>
          <p:nvPr/>
        </p:nvSpPr>
        <p:spPr>
          <a:xfrm>
            <a:off x="3447288" y="1965960"/>
            <a:ext cx="3063240" cy="914400"/>
          </a:xfrm>
          <a:prstGeom prst="chevron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300837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Arial"/>
              </a:rPr>
              <a:t>Hawkes risk ranking per horizon</a:t>
            </a:r>
          </a:p>
        </p:txBody>
      </p:sp>
      <p:sp>
        <p:nvSpPr>
          <p:cNvPr id="10" name="Chevron 9"/>
          <p:cNvSpPr/>
          <p:nvPr/>
        </p:nvSpPr>
        <p:spPr>
          <a:xfrm>
            <a:off x="6254496" y="1965960"/>
            <a:ext cx="3063240" cy="914400"/>
          </a:xfrm>
          <a:prstGeom prst="chevron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536" y="300837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Arial"/>
              </a:rPr>
              <a:t>Hop-by-hop trail, a^hop decay</a:t>
            </a:r>
          </a:p>
        </p:txBody>
      </p:sp>
      <p:sp>
        <p:nvSpPr>
          <p:cNvPr id="12" name="Chevron 11"/>
          <p:cNvSpPr/>
          <p:nvPr/>
        </p:nvSpPr>
        <p:spPr>
          <a:xfrm>
            <a:off x="9061704" y="1965960"/>
            <a:ext cx="3063240" cy="914400"/>
          </a:xfrm>
          <a:prstGeom prst="chevron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INTERCEPT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1744" y="300837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6E"/>
                </a:solidFill>
                <a:latin typeface="Arial"/>
              </a:rPr>
              <a:t>Real ATM targets to pre-position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6E6E"/>
                </a:solidFill>
                <a:latin typeface="Arial"/>
              </a:rPr>
              <a:t>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2615184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REACT 18 · VITE · TAILWIND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526280"/>
            <a:ext cx="2615184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PYTHON STDLIB — ONE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4526280"/>
            <a:ext cx="2615184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SQLITE · SSE LIVE FEED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3999" y="4526280"/>
            <a:ext cx="2615184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OSM OVERPASS — LIVE ATMs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rial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6E6E"/>
                </a:solidFill>
                <a:latin typeface="Arial"/>
              </a:rP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76656"/>
            <a:ext cx="201168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Georgia"/>
              </a:rPr>
              <a:t>Built, running, and cheap to keep running.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932688" y="2295144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224027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39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E6E6E"/>
                </a:solidFill>
                <a:latin typeface="Arial"/>
              </a:rPr>
              <a:t>Zero-dependency Python stdlib backend — no supply-chain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6596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464808" y="2295144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5704" y="224027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34639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E6E6E"/>
                </a:solidFill>
                <a:latin typeface="Arial"/>
              </a:rPr>
              <a:t>Live on Render today; auto-deploys on every push (CI/CD).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932688" y="4443984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43891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834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E6E6E"/>
                </a:solidFill>
                <a:latin typeface="Arial"/>
              </a:rPr>
              <a:t>Open OSM ATM coverage; NCRP adapter swaps in when API access is granted.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1480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464808" y="4443984"/>
            <a:ext cx="182880" cy="182880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5704" y="43891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9834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E6E6E"/>
                </a:solidFill>
                <a:latin typeface="Arial"/>
              </a:rPr>
              <a:t>Free-tier hosting — a zero-cost pilot for any police unit.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rial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6E6E"/>
                </a:solidFill>
                <a:latin typeface="Arial"/>
              </a:rP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76656"/>
            <a:ext cx="201168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Georgia"/>
              </a:rPr>
              <a:t>Less money lost, faster response, more citizens on watch.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BDBDBD"/>
                </a:solidFill>
                <a:latin typeface="Georgia"/>
              </a:rPr>
              <a:t>01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28800" y="2157984"/>
            <a:ext cx="685800" cy="310896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029968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Intercept inside the money's travel window — hours, not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798064"/>
            <a:ext cx="877824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BDBDBD"/>
                </a:solidFill>
                <a:latin typeface="Georgia"/>
              </a:rPr>
              <a:t>02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28800" y="3163824"/>
            <a:ext cx="685800" cy="310896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035808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Pre-position units at the right ATMs, not every ATM.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803904"/>
            <a:ext cx="877824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BDBDBD"/>
                </a:solidFill>
                <a:latin typeface="Georgia"/>
              </a:rPr>
              <a:t>03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828800" y="4169664"/>
            <a:ext cx="685800" cy="310896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041648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Citizens become the sensor network.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4809744"/>
            <a:ext cx="877824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BDBDBD"/>
                </a:solidFill>
                <a:latin typeface="Georgia"/>
              </a:rPr>
              <a:t>04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28800" y="5175504"/>
            <a:ext cx="685800" cy="310896"/>
          </a:xfrm>
          <a:prstGeom prst="rightArrow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047488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Court-ready Section-102 BNSS dossiers.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5815584"/>
            <a:ext cx="8778240" cy="7315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rial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6E6E"/>
                </a:solidFill>
                <a:latin typeface="Arial"/>
              </a:rP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76656"/>
            <a:ext cx="201168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Georgia"/>
              </a:rPr>
              <a:t>The math, the data, and the law behind the product.</a:t>
            </a:r>
          </a:p>
        </p:txBody>
      </p:sp>
      <p:sp>
        <p:nvSpPr>
          <p:cNvPr id="6" name="Diamond 5"/>
          <p:cNvSpPr/>
          <p:nvPr/>
        </p:nvSpPr>
        <p:spPr>
          <a:xfrm>
            <a:off x="685800" y="1911095"/>
            <a:ext cx="118872" cy="11887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Hawkes, A.G. (1971). Spectra of some self-exciting and mutually exciting point processes. Biometrika, 58(1).</a:t>
            </a:r>
          </a:p>
        </p:txBody>
      </p:sp>
      <p:sp>
        <p:nvSpPr>
          <p:cNvPr id="9" name="Diamond 8"/>
          <p:cNvSpPr/>
          <p:nvPr/>
        </p:nvSpPr>
        <p:spPr>
          <a:xfrm>
            <a:off x="685800" y="2624328"/>
            <a:ext cx="118872" cy="11887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42032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Mohler, G.O. et al. (2011). Self-exciting point process modeling of crime. Journal of the American Statistical Association, 106(493).</a:t>
            </a:r>
          </a:p>
        </p:txBody>
      </p:sp>
      <p:sp>
        <p:nvSpPr>
          <p:cNvPr id="12" name="Diamond 11"/>
          <p:cNvSpPr/>
          <p:nvPr/>
        </p:nvSpPr>
        <p:spPr>
          <a:xfrm>
            <a:off x="685800" y="3337560"/>
            <a:ext cx="118872" cy="11887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55264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OpenStreetMap — Overpass API for ATM / bank-amenity extraction. openstreetmap.org</a:t>
            </a:r>
          </a:p>
        </p:txBody>
      </p:sp>
      <p:sp>
        <p:nvSpPr>
          <p:cNvPr id="15" name="Diamond 14"/>
          <p:cNvSpPr/>
          <p:nvPr/>
        </p:nvSpPr>
        <p:spPr>
          <a:xfrm>
            <a:off x="685800" y="4050792"/>
            <a:ext cx="118872" cy="11887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6849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68496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NPCI — BHIM UPI dispute and chargeback circulars (PSP rules). npci.org.in</a:t>
            </a:r>
          </a:p>
        </p:txBody>
      </p:sp>
      <p:sp>
        <p:nvSpPr>
          <p:cNvPr id="18" name="Diamond 17"/>
          <p:cNvSpPr/>
          <p:nvPr/>
        </p:nvSpPr>
        <p:spPr>
          <a:xfrm>
            <a:off x="685800" y="4764024"/>
            <a:ext cx="118872" cy="11887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817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81728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Bharatiya Nagarik Suraksha Sanhita, 2023 — Section 102 attachment procedure, as implemented in product dossiers.</a:t>
            </a:r>
          </a:p>
        </p:txBody>
      </p:sp>
      <p:sp>
        <p:nvSpPr>
          <p:cNvPr id="21" name="Diamond 20"/>
          <p:cNvSpPr/>
          <p:nvPr/>
        </p:nvSpPr>
        <p:spPr>
          <a:xfrm>
            <a:off x="685800" y="5477256"/>
            <a:ext cx="118872" cy="118872"/>
          </a:xfrm>
          <a:prstGeom prst="diamond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9496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9496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E6E"/>
                </a:solidFill>
                <a:latin typeface="Arial"/>
              </a:rPr>
              <a:t>National Cyber Crime Reporting Portal — NCRP complaint taxonomy. cybercrime.gov.in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Arial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