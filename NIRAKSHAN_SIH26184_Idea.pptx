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1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defaultTextStyle>
    <a:defPPr lvl="0">
      <a:defRPr lang="en-US"/>
    </a:defPPr>
    <a:lvl1pPr defTabSz="457200" lvl="0" rtl="0" algn="l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defTabSz="457200" lvl="1" marL="457200" rtl="0" algn="l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defTabSz="457200" lvl="2" marL="914400" rtl="0" algn="l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defTabSz="457200" lvl="3" marL="1371600" rtl="0" algn="l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defTabSz="457200" lvl="4" marL="1828800" rtl="0" algn="l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defTabSz="914400" eaLnBrk="1" hangingPunct="1" latinLnBrk="0" lvl="5" marL="2286000" rtl="0" algn="l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defTabSz="914400" eaLnBrk="1" hangingPunct="1" latinLnBrk="0" lvl="6" marL="2743200" rtl="0" algn="l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defTabSz="914400" eaLnBrk="1" hangingPunct="1" latinLnBrk="0" lvl="7" marL="3200400" rtl="0" algn="l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defTabSz="914400" eaLnBrk="1" hangingPunct="1" latinLnBrk="0" lvl="8" marL="3657600" rtl="0" algn="l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SIH26184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Predictive Analytics Framework for Cybercrime Complaints to Forecast Likely Cash Withdrawal Locations (MHA)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 Software, Blockchain &amp; Cybersecurity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 [YOUR TEAM ID]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TEAM CYPHORA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si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5623560"/>
            <a:ext cx="640080" cy="9620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NIRAKSHAN — SEE. PREDICT. INTERCEPT.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000"/>
              <a:t>TEAM CYPHORA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2395728"/>
            <a:ext cx="3611880" cy="2212848"/>
          </a:xfrm>
          <a:prstGeom prst="roundRect">
            <a:avLst>
              <a:gd name="adj" fmla="val 10000"/>
            </a:avLst>
          </a:prstGeom>
          <a:solidFill>
            <a:srgbClr val="0C182C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E8AB5"/>
                </a:solidFill>
                <a:latin typeface="Consolas"/>
              </a:rPr>
              <a:t>◎  PREDICT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1F5F9"/>
                </a:solidFill>
              </a:rPr>
              <a:t>Hawkes engine forecasts cash-out hotspots before they happen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515F70"/>
                </a:solidFill>
                <a:latin typeface="Consolas"/>
              </a:rPr>
              <a:t>+2h · +6h · +24h lead windows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630936" y="2651760"/>
            <a:ext cx="868680" cy="82296"/>
          </a:xfrm>
          <a:prstGeom prst="rect">
            <a:avLst/>
          </a:prstGeom>
          <a:solidFill>
            <a:srgbClr val="1E8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Rounded Rectangle 15364"/>
          <p:cNvSpPr/>
          <p:nvPr/>
        </p:nvSpPr>
        <p:spPr>
          <a:xfrm>
            <a:off x="4297680" y="2395728"/>
            <a:ext cx="3611880" cy="2212848"/>
          </a:xfrm>
          <a:prstGeom prst="roundRect">
            <a:avLst>
              <a:gd name="adj" fmla="val 10000"/>
            </a:avLst>
          </a:prstGeom>
          <a:solidFill>
            <a:srgbClr val="0C182C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C8F6D"/>
                </a:solidFill>
                <a:latin typeface="Consolas"/>
              </a:rPr>
              <a:t>▣  INTERCEPT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1F5F9"/>
                </a:solidFill>
              </a:rPr>
              <a:t>Real ATM/bank layer (OpenStreetMap) for pre-positioning forces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515F70"/>
                </a:solidFill>
                <a:latin typeface="Consolas"/>
              </a:rPr>
              <a:t>Live geospatial data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4517136" y="2651760"/>
            <a:ext cx="868680" cy="82296"/>
          </a:xfrm>
          <a:prstGeom prst="rect">
            <a:avLst/>
          </a:prstGeom>
          <a:solidFill>
            <a:srgbClr val="0C8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8183879" y="2395728"/>
            <a:ext cx="3611880" cy="2212848"/>
          </a:xfrm>
          <a:prstGeom prst="roundRect">
            <a:avLst>
              <a:gd name="adj" fmla="val 10000"/>
            </a:avLst>
          </a:prstGeom>
          <a:solidFill>
            <a:srgbClr val="0C182C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47D08"/>
                </a:solidFill>
                <a:latin typeface="Consolas"/>
              </a:rPr>
              <a:t>⚠  PREVENT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1F5F9"/>
                </a:solidFill>
              </a:rPr>
              <a:t>QR fraud sensor stops scams at the payment entry point</a:t>
            </a:r>
          </a:p>
          <a:p>
            <a:pPr algn="l">
              <a:spcAft>
                <a:spcPts val="800"/>
              </a:spcAft>
            </a:pPr>
            <a:r>
              <a:rPr sz="1000" b="1">
                <a:solidFill>
                  <a:srgbClr val="515F70"/>
                </a:solidFill>
                <a:latin typeface="Consolas"/>
              </a:rPr>
              <a:t>NPCI rule engine + camera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8403336" y="2651760"/>
            <a:ext cx="868680" cy="82296"/>
          </a:xfrm>
          <a:prstGeom prst="rect">
            <a:avLst/>
          </a:prstGeom>
          <a:solidFill>
            <a:srgbClr val="B47D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411480" y="4846320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E8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350" b="1">
                <a:solidFill>
                  <a:srgbClr val="F1F5F9"/>
                </a:solidFill>
                <a:latin typeface="Consolas"/>
              </a:rPr>
              <a:t>SHIFT:  Reactive — freeze after money is gone (HOURS)   →   Proactive — intercept before cash-out (MINUTES)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11480" y="5870448"/>
            <a:ext cx="11384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2A3340"/>
                </a:solidFill>
              </a:rPr>
              <a:t>“We watch, so you’re safe.”  —  working prototype live 24/7</a:t>
            </a:r>
          </a:p>
        </p:txBody>
      </p:sp>
      <p:pic>
        <p:nvPicPr>
          <p:cNvPr id="15371" name="Picture 15370" descr="si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0" y="5806440"/>
            <a:ext cx="502920" cy="7558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000"/>
              <a:t>TEAM CYPHORA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371600"/>
            <a:ext cx="11384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2B5B"/>
                </a:solidFill>
                <a:latin typeface="Consolas"/>
              </a:rPr>
              <a:t>DATA   →   DECISION   →   ACTION</a:t>
            </a:r>
          </a:p>
        </p:txBody>
      </p:sp>
      <p:sp>
        <p:nvSpPr>
          <p:cNvPr id="17412" name="Chevron 17411"/>
          <p:cNvSpPr/>
          <p:nvPr/>
        </p:nvSpPr>
        <p:spPr>
          <a:xfrm>
            <a:off x="411480" y="1847088"/>
            <a:ext cx="2468880" cy="987552"/>
          </a:xfrm>
          <a:prstGeom prst="chevron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E8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1F5F9"/>
                </a:solidFill>
                <a:latin typeface="Consolas"/>
              </a:rPr>
              <a:t>LIVE INGEST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1E8AB5"/>
                </a:solidFill>
                <a:latin typeface="Consolas"/>
              </a:rPr>
              <a:t>SSE + SQLite</a:t>
            </a:r>
          </a:p>
        </p:txBody>
      </p:sp>
      <p:sp>
        <p:nvSpPr>
          <p:cNvPr id="17413" name="Chevron 17412"/>
          <p:cNvSpPr/>
          <p:nvPr/>
        </p:nvSpPr>
        <p:spPr>
          <a:xfrm>
            <a:off x="2640330" y="1847088"/>
            <a:ext cx="2468880" cy="987552"/>
          </a:xfrm>
          <a:prstGeom prst="chevron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E8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1F5F9"/>
                </a:solidFill>
                <a:latin typeface="Consolas"/>
              </a:rPr>
              <a:t>PREDICT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1E8AB5"/>
                </a:solidFill>
                <a:latin typeface="Consolas"/>
              </a:rPr>
              <a:t>Hawkes process</a:t>
            </a:r>
          </a:p>
        </p:txBody>
      </p:sp>
      <p:sp>
        <p:nvSpPr>
          <p:cNvPr id="17414" name="Chevron 17413"/>
          <p:cNvSpPr/>
          <p:nvPr/>
        </p:nvSpPr>
        <p:spPr>
          <a:xfrm>
            <a:off x="4869180" y="1847088"/>
            <a:ext cx="2468880" cy="987552"/>
          </a:xfrm>
          <a:prstGeom prst="chevron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E8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1F5F9"/>
                </a:solidFill>
                <a:latin typeface="Consolas"/>
              </a:rPr>
              <a:t>VISUALIZE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1E8AB5"/>
                </a:solidFill>
                <a:latin typeface="Consolas"/>
              </a:rPr>
              <a:t>Satellite + OSM ATMs</a:t>
            </a:r>
          </a:p>
        </p:txBody>
      </p:sp>
      <p:sp>
        <p:nvSpPr>
          <p:cNvPr id="17415" name="Chevron 17414"/>
          <p:cNvSpPr/>
          <p:nvPr/>
        </p:nvSpPr>
        <p:spPr>
          <a:xfrm>
            <a:off x="7098030" y="1847088"/>
            <a:ext cx="2468880" cy="987552"/>
          </a:xfrm>
          <a:prstGeom prst="chevron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E8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1F5F9"/>
                </a:solidFill>
                <a:latin typeface="Consolas"/>
              </a:rPr>
              <a:t>DETECT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1E8AB5"/>
                </a:solidFill>
                <a:latin typeface="Consolas"/>
              </a:rPr>
              <a:t>QR rules + EWMA AI</a:t>
            </a:r>
          </a:p>
        </p:txBody>
      </p:sp>
      <p:sp>
        <p:nvSpPr>
          <p:cNvPr id="17416" name="Chevron 17415"/>
          <p:cNvSpPr/>
          <p:nvPr/>
        </p:nvSpPr>
        <p:spPr>
          <a:xfrm>
            <a:off x="9326880" y="1847088"/>
            <a:ext cx="2468880" cy="987552"/>
          </a:xfrm>
          <a:prstGeom prst="chevron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E8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1F5F9"/>
                </a:solidFill>
                <a:latin typeface="Consolas"/>
              </a:rPr>
              <a:t>ACT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1E8AB5"/>
                </a:solidFill>
                <a:latin typeface="Consolas"/>
              </a:rPr>
              <a:t>Sec.102 dossier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3035808"/>
            <a:ext cx="11384280" cy="530352"/>
          </a:xfrm>
          <a:prstGeom prst="roundRect">
            <a:avLst>
              <a:gd name="adj" fmla="val 10000"/>
            </a:avLst>
          </a:prstGeom>
          <a:noFill/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0F2B5B"/>
                </a:solidFill>
                <a:latin typeface="Consolas"/>
              </a:rPr>
              <a:t>Python stdlib  ·  SSE  ·  SQLite  ·  Leaflet + ESRI/OSM  ·  BarcodeDetector  ·  Gemini LLM (optional)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3767328"/>
            <a:ext cx="5486400" cy="2212848"/>
          </a:xfrm>
          <a:prstGeom prst="roundRect">
            <a:avLst>
              <a:gd name="adj" fmla="val 10000"/>
            </a:avLst>
          </a:prstGeom>
          <a:noFill/>
          <a:ln w="16510">
            <a:solidFill>
              <a:srgbClr val="515F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350" b="1">
                <a:solidFill>
                  <a:srgbClr val="515F70"/>
                </a:solidFill>
                <a:latin typeface="Consolas"/>
              </a:rPr>
              <a:t>DROP SCREENSHOT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15F70"/>
                </a:solidFill>
              </a:rPr>
              <a:t>Satellite risk map — Hawkes heatmap, live pulses, real ATM layer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309360" y="3767328"/>
            <a:ext cx="5486400" cy="2212848"/>
          </a:xfrm>
          <a:prstGeom prst="roundRect">
            <a:avLst>
              <a:gd name="adj" fmla="val 10000"/>
            </a:avLst>
          </a:prstGeom>
          <a:noFill/>
          <a:ln w="16510">
            <a:solidFill>
              <a:srgbClr val="515F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350" b="1">
                <a:solidFill>
                  <a:srgbClr val="515F70"/>
                </a:solidFill>
                <a:latin typeface="Consolas"/>
              </a:rPr>
              <a:t>DROP SCREENSHOTS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15F70"/>
                </a:solidFill>
              </a:rPr>
              <a:t>QR verdict FLAGGED_FRAUD_RISK · burst-anomaly banner · PDF dossier</a:t>
            </a:r>
          </a:p>
        </p:txBody>
      </p:sp>
      <p:pic>
        <p:nvPicPr>
          <p:cNvPr id="17420" name="Picture 17419" descr="si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0" y="5806440"/>
            <a:ext cx="502920" cy="7558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/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/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/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/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000"/>
              <a:t>TEAM CYPHORA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481328"/>
            <a:ext cx="3749039" cy="4023360"/>
          </a:xfrm>
          <a:prstGeom prst="roundRect">
            <a:avLst>
              <a:gd name="adj" fmla="val 10000"/>
            </a:avLst>
          </a:prstGeom>
          <a:solidFill>
            <a:srgbClr val="0C182C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>
              <a:spcAft>
                <a:spcPts val="1200"/>
              </a:spcAft>
            </a:pPr>
            <a:r>
              <a:rPr sz="1550" b="1">
                <a:solidFill>
                  <a:srgbClr val="0C8F6D"/>
                </a:solidFill>
                <a:latin typeface="Consolas"/>
              </a:rPr>
              <a:t>✓  FEASIBLE NOW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1F5F9"/>
                </a:solidFill>
              </a:rPr>
              <a:t>•  Prototype live 24/7 on cloud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1F5F9"/>
                </a:solidFill>
              </a:rPr>
              <a:t>•  Zero dependencies — stdlib only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1F5F9"/>
                </a:solidFill>
              </a:rPr>
              <a:t>•  Deployable on-prem / air-gapped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1F5F9"/>
                </a:solidFill>
              </a:rPr>
              <a:t>•  Full demo replays in &lt; 1 min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630936" y="1783080"/>
            <a:ext cx="868680" cy="82296"/>
          </a:xfrm>
          <a:prstGeom prst="rect">
            <a:avLst/>
          </a:prstGeom>
          <a:solidFill>
            <a:srgbClr val="0C8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434840" y="138988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47D08"/>
                </a:solidFill>
                <a:latin typeface="Consolas"/>
              </a:rPr>
              <a:t>RISK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275320" y="138988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E8AB5"/>
                </a:solidFill>
                <a:latin typeface="Consolas"/>
              </a:rPr>
              <a:t>MITIGATION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434840" y="178308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B47D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</a:rPr>
              <a:t>No public NCRP / CFCFRMS API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7772400" y="2093976"/>
            <a:ext cx="457200" cy="45720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515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8275320" y="178308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E8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</a:rPr>
              <a:t>Adapter ingest + live SMS-forwarder path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434840" y="3044952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B47D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</a:rPr>
              <a:t>Victim PII sensitivity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772400" y="3355848"/>
            <a:ext cx="457200" cy="45720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515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275320" y="3044952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E8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</a:rPr>
              <a:t>On-prem deployment — PII never leaves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434840" y="4306824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B47D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</a:rPr>
              <a:t>Free-tier uptime / cold starts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7772400" y="4617720"/>
            <a:ext cx="457200" cy="457200"/>
          </a:xfrm>
          <a:prstGeom prst="rightArrow">
            <a:avLst>
              <a:gd name="adj1" fmla="val 10000"/>
              <a:gd name="adj2" fmla="val 50000"/>
            </a:avLst>
          </a:prstGeom>
          <a:solidFill>
            <a:srgbClr val="515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8275320" y="4306824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E8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</a:rPr>
              <a:t>Keep-alive monitor + 1-command port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2468880" y="5138928"/>
            <a:ext cx="7315200" cy="713232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0C8F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C8F6D"/>
                </a:solidFill>
                <a:latin typeface="Consolas"/>
              </a:rPr>
              <a:t>PROTOTYPE LIVE NOW  →  nirikshanv2.onrender.com</a:t>
            </a:r>
          </a:p>
        </p:txBody>
      </p:sp>
      <p:pic>
        <p:nvPicPr>
          <p:cNvPr id="17425" name="Picture 17424" descr="si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0" y="5806440"/>
            <a:ext cx="502920" cy="75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/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000"/>
              <a:t>TEAM CYPHORA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463040"/>
            <a:ext cx="3611880" cy="2103120"/>
          </a:xfrm>
          <a:prstGeom prst="roundRect">
            <a:avLst>
              <a:gd name="adj" fmla="val 10000"/>
            </a:avLst>
          </a:prstGeom>
          <a:solidFill>
            <a:srgbClr val="0C182C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E8AB5"/>
                </a:solidFill>
                <a:latin typeface="Consolas"/>
              </a:rPr>
              <a:t>MINUTES</a:t>
            </a:r>
          </a:p>
          <a:p>
            <a:pPr algn="ctr">
              <a:spcAft>
                <a:spcPts val="1000"/>
              </a:spcAft>
            </a:pPr>
            <a:r>
              <a:rPr sz="1200" b="0">
                <a:solidFill>
                  <a:srgbClr val="F1F5F9"/>
                </a:solidFill>
              </a:rPr>
              <a:t>interception lead time, not hours —
pre-position before cash-out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630936" y="1737360"/>
            <a:ext cx="868680" cy="82296"/>
          </a:xfrm>
          <a:prstGeom prst="rect">
            <a:avLst/>
          </a:prstGeom>
          <a:solidFill>
            <a:srgbClr val="1E8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4297680" y="1463040"/>
            <a:ext cx="3611880" cy="2103120"/>
          </a:xfrm>
          <a:prstGeom prst="roundRect">
            <a:avLst>
              <a:gd name="adj" fmla="val 10000"/>
            </a:avLst>
          </a:prstGeom>
          <a:solidFill>
            <a:srgbClr val="0C182C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0C8F6D"/>
                </a:solidFill>
                <a:latin typeface="Consolas"/>
              </a:rPr>
              <a:t>ZERO</a:t>
            </a:r>
          </a:p>
          <a:p>
            <a:pPr algn="ctr">
              <a:spcAft>
                <a:spcPts val="1000"/>
              </a:spcAft>
            </a:pPr>
            <a:r>
              <a:rPr sz="1200" b="0">
                <a:solidFill>
                  <a:srgbClr val="F1F5F9"/>
                </a:solidFill>
              </a:rPr>
              <a:t>blanket freezes — every lien capped to
disputed value (Sec.102 BNSS)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517136" y="1737360"/>
            <a:ext cx="868680" cy="82296"/>
          </a:xfrm>
          <a:prstGeom prst="rect">
            <a:avLst/>
          </a:prstGeom>
          <a:solidFill>
            <a:srgbClr val="0C8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8183879" y="1463040"/>
            <a:ext cx="3611880" cy="2103120"/>
          </a:xfrm>
          <a:prstGeom prst="roundRect">
            <a:avLst>
              <a:gd name="adj" fmla="val 10000"/>
            </a:avLst>
          </a:prstGeom>
          <a:solidFill>
            <a:srgbClr val="0C182C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B47D08"/>
                </a:solidFill>
                <a:latin typeface="Consolas"/>
              </a:rPr>
              <a:t>HOUR 1</a:t>
            </a:r>
          </a:p>
          <a:p>
            <a:pPr algn="ctr">
              <a:spcAft>
                <a:spcPts val="1000"/>
              </a:spcAft>
            </a:pPr>
            <a:r>
              <a:rPr sz="1200" b="0">
                <a:solidFill>
                  <a:srgbClr val="F1F5F9"/>
                </a:solidFill>
              </a:rPr>
              <a:t>the critical recovery window —
KPIs instrumented live on dashboard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8403336" y="1737360"/>
            <a:ext cx="868680" cy="82296"/>
          </a:xfrm>
          <a:prstGeom prst="rect">
            <a:avLst/>
          </a:prstGeom>
          <a:solidFill>
            <a:srgbClr val="B47D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3794760"/>
            <a:ext cx="3611880" cy="10972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E8AB5"/>
                </a:solidFill>
                <a:latin typeface="Consolas"/>
              </a:rPr>
              <a:t>I4C &amp; CYBER CELLS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1F5F9"/>
                </a:solidFill>
              </a:rPr>
              <a:t>minutes-level proactive interception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97680" y="3794760"/>
            <a:ext cx="3611880" cy="10972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C8F6D"/>
                </a:solidFill>
                <a:latin typeface="Consolas"/>
              </a:rPr>
              <a:t>BANK NODAL OFFICERS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1F5F9"/>
                </a:solidFill>
              </a:rPr>
              <a:t>precise, legally-capped lien advisories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183879" y="3794760"/>
            <a:ext cx="3611880" cy="10972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B47D08"/>
                </a:solidFill>
                <a:latin typeface="Consolas"/>
              </a:rPr>
              <a:t>CITIZENS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1F5F9"/>
                </a:solidFill>
              </a:rPr>
              <a:t>protection at the scam entry point itself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11480" y="5120640"/>
            <a:ext cx="11384280" cy="77724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1F5F9"/>
                </a:solidFill>
                <a:latin typeface="Consolas"/>
              </a:rPr>
              <a:t>SOCIAL: faster recovery, trust in digital payments     ·     ECONOMIC: near-zero infra cost, scales nationally     ·     MEASURED: live KPIs</a:t>
            </a:r>
          </a:p>
        </p:txBody>
      </p:sp>
      <p:pic>
        <p:nvPicPr>
          <p:cNvPr id="17421" name="Picture 17420" descr="si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0" y="5806440"/>
            <a:ext cx="502920" cy="75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/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000"/>
              <a:t>TEAM CYPHORA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463040"/>
            <a:ext cx="5577840" cy="4160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F2B5B"/>
                </a:solidFill>
                <a:latin typeface="Consolas"/>
              </a:rPr>
              <a:t>MODEL &amp; RULES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2A3340"/>
                </a:solidFill>
              </a:rPr>
              <a:t>Hawkes (1971) — self-exciting point processes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2A3340"/>
                </a:solidFill>
              </a:rPr>
              <a:t>Mohler et al. (2011) — predictive crime mapping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2A3340"/>
                </a:solidFill>
              </a:rPr>
              <a:t>NPCI UPI technical documentation (upi:// spec)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2A3340"/>
                </a:solidFill>
              </a:rPr>
              <a:t>Rajasthan HC (Aug 2026) — Sec.102 proportionality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2A3340"/>
                </a:solidFill>
              </a:rPr>
              <a:t>RBI Annual Report — payment-fraud trends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217920" y="1463040"/>
            <a:ext cx="553212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142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F2B5B"/>
                </a:solidFill>
                <a:latin typeface="Consolas"/>
              </a:rPr>
              <a:t>DATA &amp; MAPS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2A3340"/>
                </a:solidFill>
              </a:rPr>
              <a:t>I4C · cybercrime.gov.in (NCRP)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2A3340"/>
                </a:solidFill>
              </a:rPr>
              <a:t>OpenStreetMap Overpass API — live ATM layer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2A3340"/>
                </a:solidFill>
              </a:rPr>
              <a:t>ESRI World Imagery basemaps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217920" y="3931920"/>
            <a:ext cx="3977639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C8F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F2B5B"/>
                </a:solidFill>
                <a:latin typeface="Consolas"/>
              </a:rPr>
              <a:t>THIS PROTOTYPE — LIVE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1E8AB5"/>
                </a:solidFill>
                <a:latin typeface="Consolas"/>
              </a:rPr>
              <a:t>github.com/Yosa-Shiawase/Nirikshanv2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1E8AB5"/>
                </a:solidFill>
                <a:latin typeface="Consolas"/>
              </a:rPr>
              <a:t>nirikshanv2.onrender.com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2A3340"/>
                </a:solidFill>
              </a:rPr>
              <a:t>scan → open live demo</a:t>
            </a:r>
          </a:p>
        </p:txBody>
      </p:sp>
      <p:pic>
        <p:nvPicPr>
          <p:cNvPr id="17414" name="Picture 17413" descr="site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4023360"/>
            <a:ext cx="1371600" cy="1371600"/>
          </a:xfrm>
          <a:prstGeom prst="rect">
            <a:avLst/>
          </a:prstGeom>
        </p:spPr>
      </p:pic>
      <p:pic>
        <p:nvPicPr>
          <p:cNvPr id="17415" name="Picture 17414" descr="si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5806440"/>
            <a:ext cx="502920" cy="75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